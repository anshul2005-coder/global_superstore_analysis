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unnel Display" panose="020B0604020202020204" charset="0"/>
      <p:regular r:id="rId17"/>
    </p:embeddedFont>
    <p:embeddedFont>
      <p:font typeface="Funnel Sans" panose="020B0604020202020204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68244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5EB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52577" y="1435745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Superstore Data Analytics Project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540124"/>
            <a:ext cx="4667845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Transforming raw transactional data into actionable business intelligence — a full-stack pipeline from Python to MySQL to Power BI.</a:t>
            </a:r>
            <a:endParaRPr lang="en-US" sz="1150" dirty="0"/>
          </a:p>
        </p:txBody>
      </p:sp>
      <p:sp>
        <p:nvSpPr>
          <p:cNvPr id="5" name="Shape 2"/>
          <p:cNvSpPr/>
          <p:nvPr/>
        </p:nvSpPr>
        <p:spPr>
          <a:xfrm>
            <a:off x="3952577" y="3426544"/>
            <a:ext cx="1155948" cy="281136"/>
          </a:xfrm>
          <a:prstGeom prst="roundRect">
            <a:avLst>
              <a:gd name="adj" fmla="val 17881"/>
            </a:avLst>
          </a:prstGeom>
          <a:solidFill>
            <a:srgbClr val="D8E7F3"/>
          </a:solidFill>
          <a:ln/>
        </p:spPr>
      </p:sp>
      <p:sp>
        <p:nvSpPr>
          <p:cNvPr id="6" name="Text 3"/>
          <p:cNvSpPr/>
          <p:nvPr/>
        </p:nvSpPr>
        <p:spPr>
          <a:xfrm>
            <a:off x="4042321" y="3471416"/>
            <a:ext cx="1433661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PROJECT REPORT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9CD796-FB5C-1244-36B4-5207CFFCB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58512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660" y="331440"/>
            <a:ext cx="5092154" cy="343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Project Architecture &amp; Methodology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776660" y="857845"/>
            <a:ext cx="804780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project was executed across three distinct phases to ensure data integrity and scalable analysis.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660" y="1127075"/>
            <a:ext cx="7590606" cy="34157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997997" y="1220019"/>
            <a:ext cx="1556949" cy="1930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 Cleaning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226597" y="1471479"/>
            <a:ext cx="1328349" cy="4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Ingest raw data, fix missing values, standardize types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3905279" y="3612141"/>
            <a:ext cx="1335647" cy="386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Database Engineering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05279" y="4056673"/>
            <a:ext cx="1335647" cy="584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Load via SQLAlchemy/PyMySQL, run business_analysis.sql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32872" y="1097881"/>
            <a:ext cx="1328349" cy="3861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Business Intelligence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532872" y="1542413"/>
            <a:ext cx="1328349" cy="4386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93000"/>
              </a:lnSpc>
              <a:buNone/>
            </a:pPr>
            <a:r>
              <a:rPr lang="en-US" sz="10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Build Power BI dashboard with DAX measures and slices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76660" y="4645521"/>
            <a:ext cx="8047806" cy="1665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Each phase builds on the last — from raw ingestion to structured querying to interactive executive reporting.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523577" y="608186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Phase 1: Data Cleaning with Python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523577" y="1712565"/>
            <a:ext cx="2259137" cy="1575941"/>
          </a:xfrm>
          <a:prstGeom prst="roundRect">
            <a:avLst>
              <a:gd name="adj" fmla="val 398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77912" y="18669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Ingestion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677912" y="2176611"/>
            <a:ext cx="1950467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Raw data loaded via </a:t>
            </a: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pandas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from the Superstore transactional dataset.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32286" y="1712565"/>
            <a:ext cx="2259137" cy="1575941"/>
          </a:xfrm>
          <a:prstGeom prst="roundRect">
            <a:avLst>
              <a:gd name="adj" fmla="val 398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086621" y="1866900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Standardization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086621" y="2176611"/>
            <a:ext cx="1950467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Missing values handled; dates and numerical figures standardized across all fields.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23577" y="3438079"/>
            <a:ext cx="4667845" cy="1097161"/>
          </a:xfrm>
          <a:prstGeom prst="roundRect">
            <a:avLst>
              <a:gd name="adj" fmla="val 5727"/>
            </a:avLst>
          </a:prstGeom>
          <a:solidFill>
            <a:srgbClr val="FAF5EB"/>
          </a:solidFill>
          <a:ln w="4763">
            <a:solidFill>
              <a:srgbClr val="D5CDB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77912" y="359241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Verification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677912" y="3902125"/>
            <a:ext cx="435917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Anomalies filtered to produce a verified baseline dataset: </a:t>
            </a: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clean_superstore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1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C28FD32-CC04-608A-EAD3-057B2ABC5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4284" y="0"/>
            <a:ext cx="3889716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9095" y="421332"/>
            <a:ext cx="7382768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Phase 2: Database Engineering with MySQL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6024711" y="1180430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Structured Storage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024711" y="1525935"/>
            <a:ext cx="262495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cleaned dataset was programmatically injected into a local MySQL instance using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sqlalchemy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pymysql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024711" y="2552700"/>
            <a:ext cx="2134791" cy="2096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Analytical Querying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24711" y="2898204"/>
            <a:ext cx="2624956" cy="8908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unified script —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business_analysis.sql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— was developed containing comprehensive relational queries to extract: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24711" y="3911352"/>
            <a:ext cx="2624956" cy="763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Key Performance Indicators (KPIs)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Time-series trends</a:t>
            </a:r>
            <a:endParaRPr lang="en-US" sz="1100" dirty="0"/>
          </a:p>
          <a:p>
            <a:pPr marL="342900" indent="-342900" algn="l">
              <a:lnSpc>
                <a:spcPct val="130000"/>
              </a:lnSpc>
              <a:buSzPct val="100000"/>
              <a:buChar char="•"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Segment and category breakdowns</a:t>
            </a:r>
            <a:endParaRPr lang="en-US" sz="11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9C115A-8415-C4F5-904F-B53FBAAEA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62" y="1038119"/>
            <a:ext cx="4273702" cy="3636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310432"/>
            <a:ext cx="4152454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Core Business Metrics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212444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$2.30M</a:t>
            </a:r>
            <a:endParaRPr lang="en-US" sz="3850" dirty="0"/>
          </a:p>
        </p:txBody>
      </p:sp>
      <p:sp>
        <p:nvSpPr>
          <p:cNvPr id="4" name="Text 2"/>
          <p:cNvSpPr/>
          <p:nvPr/>
        </p:nvSpPr>
        <p:spPr>
          <a:xfrm>
            <a:off x="930622" y="280511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Total Revenue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23577" y="3114824"/>
            <a:ext cx="2574280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Indicating a highly robust market footprint across the historical timeline.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284860" y="212444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$286.4K</a:t>
            </a:r>
            <a:endParaRPr lang="en-US" sz="3850" dirty="0"/>
          </a:p>
        </p:txBody>
      </p:sp>
      <p:sp>
        <p:nvSpPr>
          <p:cNvPr id="7" name="Text 5"/>
          <p:cNvSpPr/>
          <p:nvPr/>
        </p:nvSpPr>
        <p:spPr>
          <a:xfrm>
            <a:off x="3691905" y="280511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Net Profit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284860" y="3114824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Yielding an overall net profit margin of approximately </a:t>
            </a: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12.4%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046143" y="2124447"/>
            <a:ext cx="2574280" cy="493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8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5,000</a:t>
            </a:r>
            <a:endParaRPr lang="en-US" sz="3850" dirty="0"/>
          </a:p>
        </p:txBody>
      </p:sp>
      <p:sp>
        <p:nvSpPr>
          <p:cNvPr id="10" name="Text 8"/>
          <p:cNvSpPr/>
          <p:nvPr/>
        </p:nvSpPr>
        <p:spPr>
          <a:xfrm>
            <a:off x="6453188" y="2805113"/>
            <a:ext cx="17601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Orders Processed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046143" y="3114824"/>
            <a:ext cx="2574280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Discrete transactions processed across the full historical timeline.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75890"/>
            <a:ext cx="6267227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Profitability Leaks by Sub-Category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6028432" y="1389831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 Performers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028432" y="1759372"/>
            <a:ext cx="25966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Copiers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and </a:t>
            </a: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Phones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emerged as the primary profit engines, driving the highest net margins and volume.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28432" y="2627114"/>
            <a:ext cx="221731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The Critical Deficit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8432" y="2996654"/>
            <a:ext cx="2596679" cy="14363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The </a:t>
            </a:r>
            <a:r>
              <a:rPr lang="en-US" sz="11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Tables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sub-category consistently yields </a:t>
            </a:r>
            <a:r>
              <a:rPr lang="en-US" sz="1150" b="1" dirty="0">
                <a:solidFill>
                  <a:srgbClr val="E282B7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negative net profit margins</a:t>
            </a:r>
            <a:r>
              <a:rPr lang="en-US" sz="11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despite substantial sales volume — production, shipping, or heavy discounting is actively destroying value.</a:t>
            </a:r>
            <a:endParaRPr lang="en-US" sz="11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4280054-B42D-F991-6F01-D06BA7C38B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577" y="1389831"/>
            <a:ext cx="3942915" cy="32454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757" y="355402"/>
            <a:ext cx="6603206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Time-Series Trends &amp; Customer Segmentation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00757" y="1898675"/>
            <a:ext cx="1859756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Seasonal Patterns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00757" y="2168947"/>
            <a:ext cx="3725763" cy="6852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Sales and profits show a clear </a:t>
            </a: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upward year-over-year trajectory</a:t>
            </a: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 Monthly rolling totals reveal recurring spikes concentrated in </a:t>
            </a: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Q3 and Q4</a:t>
            </a: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, aligning with corporate purchasing cycles and holiday retail surges.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00757" y="2949104"/>
            <a:ext cx="1965722" cy="1753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Segment Performance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0757" y="3219376"/>
            <a:ext cx="3725763" cy="580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Consumer:</a:t>
            </a: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46% of profitability — $134.12K</a:t>
            </a:r>
            <a:endParaRPr lang="en-US" sz="9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Corporate:</a:t>
            </a: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~32% of profitability</a:t>
            </a:r>
            <a:endParaRPr lang="en-US" sz="900" dirty="0"/>
          </a:p>
          <a:p>
            <a:pPr marL="342900" indent="-342900" algn="l">
              <a:lnSpc>
                <a:spcPct val="120000"/>
              </a:lnSpc>
              <a:buSzPct val="100000"/>
              <a:buChar char="•"/>
            </a:pPr>
            <a:r>
              <a:rPr lang="en-US" sz="9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Home Office:</a:t>
            </a:r>
            <a:r>
              <a:rPr lang="en-US" sz="9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~21% of profitability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2093" y="955402"/>
            <a:ext cx="3725763" cy="37257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4538" y="522461"/>
            <a:ext cx="4644926" cy="398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Power BI Dashboard Design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74538" y="1166887"/>
            <a:ext cx="8652123" cy="2067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 single-page executive dashboard using a </a:t>
            </a:r>
            <a:r>
              <a:rPr lang="en-US" sz="105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four-tier hierarchical grid architecture</a:t>
            </a: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for stakeholder data exploration.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474538" y="1511796"/>
            <a:ext cx="4035996" cy="1389831"/>
          </a:xfrm>
          <a:prstGeom prst="roundRect">
            <a:avLst>
              <a:gd name="adj" fmla="val 4097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93588" y="1530846"/>
            <a:ext cx="3997896" cy="406747"/>
          </a:xfrm>
          <a:prstGeom prst="roundRect">
            <a:avLst>
              <a:gd name="adj" fmla="val 8380"/>
            </a:avLst>
          </a:prstGeom>
          <a:solidFill>
            <a:srgbClr val="FAF5EB"/>
          </a:solidFill>
          <a:ln/>
        </p:spPr>
      </p:sp>
      <p:sp>
        <p:nvSpPr>
          <p:cNvPr id="6" name="Text 4"/>
          <p:cNvSpPr/>
          <p:nvPr/>
        </p:nvSpPr>
        <p:spPr>
          <a:xfrm>
            <a:off x="2390849" y="1604739"/>
            <a:ext cx="203374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9171" y="2060451"/>
            <a:ext cx="172335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Top Navigation Banner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9171" y="2333551"/>
            <a:ext cx="3726731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Prominent header: </a:t>
            </a:r>
            <a:r>
              <a:rPr lang="en-US" sz="1050" i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Superstore Executive Performance Dashboard</a:t>
            </a: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633392" y="1511796"/>
            <a:ext cx="4036070" cy="1389831"/>
          </a:xfrm>
          <a:prstGeom prst="roundRect">
            <a:avLst>
              <a:gd name="adj" fmla="val 4097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2442" y="1530846"/>
            <a:ext cx="3997970" cy="406747"/>
          </a:xfrm>
          <a:prstGeom prst="roundRect">
            <a:avLst>
              <a:gd name="adj" fmla="val 8380"/>
            </a:avLst>
          </a:prstGeom>
          <a:solidFill>
            <a:srgbClr val="FAF5EB"/>
          </a:solidFill>
          <a:ln/>
        </p:spPr>
      </p:sp>
      <p:sp>
        <p:nvSpPr>
          <p:cNvPr id="11" name="Text 9"/>
          <p:cNvSpPr/>
          <p:nvPr/>
        </p:nvSpPr>
        <p:spPr>
          <a:xfrm>
            <a:off x="6549703" y="1604739"/>
            <a:ext cx="203374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88024" y="2060451"/>
            <a:ext cx="1958578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Left-Hand Control Sidebar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788024" y="2333551"/>
            <a:ext cx="3726805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Order Date slider, Category &amp; Ship Mode dropdowns, and a Vertical Tile Slicer for Region.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74538" y="3024485"/>
            <a:ext cx="4035996" cy="1596554"/>
          </a:xfrm>
          <a:prstGeom prst="roundRect">
            <a:avLst>
              <a:gd name="adj" fmla="val 3567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588" y="3043535"/>
            <a:ext cx="3997896" cy="406747"/>
          </a:xfrm>
          <a:prstGeom prst="roundRect">
            <a:avLst>
              <a:gd name="adj" fmla="val 8380"/>
            </a:avLst>
          </a:prstGeom>
          <a:solidFill>
            <a:srgbClr val="FAF5EB"/>
          </a:solidFill>
          <a:ln/>
        </p:spPr>
      </p:sp>
      <p:sp>
        <p:nvSpPr>
          <p:cNvPr id="16" name="Text 14"/>
          <p:cNvSpPr/>
          <p:nvPr/>
        </p:nvSpPr>
        <p:spPr>
          <a:xfrm>
            <a:off x="2390849" y="3117428"/>
            <a:ext cx="203374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171" y="3573140"/>
            <a:ext cx="1727076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Upper Summary Cards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9171" y="3846240"/>
            <a:ext cx="3726731" cy="413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Three high-impact cards: Total Orders, Total Profit, Total Sales — with automated unit scaling.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33392" y="3024485"/>
            <a:ext cx="4036070" cy="1596554"/>
          </a:xfrm>
          <a:prstGeom prst="roundRect">
            <a:avLst>
              <a:gd name="adj" fmla="val 3567"/>
            </a:avLst>
          </a:prstGeom>
          <a:solidFill>
            <a:srgbClr val="FAF5EB"/>
          </a:solidFill>
          <a:ln w="19050">
            <a:solidFill>
              <a:srgbClr val="D5CDB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52442" y="3043535"/>
            <a:ext cx="3997970" cy="406747"/>
          </a:xfrm>
          <a:prstGeom prst="roundRect">
            <a:avLst>
              <a:gd name="adj" fmla="val 8380"/>
            </a:avLst>
          </a:prstGeom>
          <a:solidFill>
            <a:srgbClr val="FAF5EB"/>
          </a:solidFill>
          <a:ln/>
        </p:spPr>
      </p:sp>
      <p:sp>
        <p:nvSpPr>
          <p:cNvPr id="21" name="Text 19"/>
          <p:cNvSpPr/>
          <p:nvPr/>
        </p:nvSpPr>
        <p:spPr>
          <a:xfrm>
            <a:off x="6549703" y="3117428"/>
            <a:ext cx="203374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788024" y="3573140"/>
            <a:ext cx="1595065" cy="199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Analytical Body Grid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788024" y="3846240"/>
            <a:ext cx="3726805" cy="620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Donut chart (segment profit), bar chart (sub-category rank), line/column chart (temporal trends), customer matrix, scatter plot (discount vs. profit), and state-level sales bar chart.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4855" y="381149"/>
            <a:ext cx="3317379" cy="357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DAX Formulation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5953571" y="985540"/>
            <a:ext cx="1887289" cy="1787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Explicit Measures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953571" y="1263030"/>
            <a:ext cx="2570262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Data fields were decoupled from visuals. Processing is driven by explicit DAX stored in a dedicated calculations directory: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5953571" y="1902991"/>
            <a:ext cx="2570262" cy="1829619"/>
          </a:xfrm>
          <a:prstGeom prst="roundRect">
            <a:avLst>
              <a:gd name="adj" fmla="val 2790"/>
            </a:avLst>
          </a:prstGeom>
          <a:solidFill>
            <a:srgbClr val="EDE8DE"/>
          </a:solidFill>
          <a:ln/>
        </p:spPr>
      </p:sp>
      <p:sp>
        <p:nvSpPr>
          <p:cNvPr id="7" name="Shape 4"/>
          <p:cNvSpPr/>
          <p:nvPr/>
        </p:nvSpPr>
        <p:spPr>
          <a:xfrm>
            <a:off x="5947544" y="1902991"/>
            <a:ext cx="2582317" cy="1829619"/>
          </a:xfrm>
          <a:prstGeom prst="roundRect">
            <a:avLst>
              <a:gd name="adj" fmla="val 997"/>
            </a:avLst>
          </a:prstGeom>
          <a:solidFill>
            <a:srgbClr val="EDE8DE"/>
          </a:solidFill>
          <a:ln/>
        </p:spPr>
      </p:sp>
      <p:sp>
        <p:nvSpPr>
          <p:cNvPr id="8" name="Text 5"/>
          <p:cNvSpPr/>
          <p:nvPr/>
        </p:nvSpPr>
        <p:spPr>
          <a:xfrm>
            <a:off x="6099423" y="2024509"/>
            <a:ext cx="2278559" cy="15865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Total_sales = SUM(clean_superstore[Sales])</a:t>
            </a:r>
            <a:endParaRPr lang="en-US" sz="950" dirty="0"/>
          </a:p>
          <a:p>
            <a:pPr marL="0" indent="0" algn="l">
              <a:lnSpc>
                <a:spcPct val="121000"/>
              </a:lnSpc>
              <a:buNone/>
            </a:pPr>
            <a:endParaRPr lang="en-US" sz="9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Total_profit = SUM(clean_superstore[Profit])</a:t>
            </a:r>
            <a:endParaRPr lang="en-US" sz="950" dirty="0"/>
          </a:p>
          <a:p>
            <a:pPr marL="0" indent="0" algn="l">
              <a:lnSpc>
                <a:spcPct val="121000"/>
              </a:lnSpc>
              <a:buNone/>
            </a:pPr>
            <a:endParaRPr lang="en-US" sz="9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2B3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Total_orders = DISTINCTCOUNT(clean_superstore[Order_ID])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953571" y="3843710"/>
            <a:ext cx="2570262" cy="807541"/>
          </a:xfrm>
          <a:prstGeom prst="roundRect">
            <a:avLst>
              <a:gd name="adj" fmla="val 6322"/>
            </a:avLst>
          </a:prstGeom>
          <a:solidFill>
            <a:srgbClr val="B6D6F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5090" y="4022601"/>
            <a:ext cx="151879" cy="12151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48487" y="3972818"/>
            <a:ext cx="2053828" cy="5288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Automated unit scaling ensures executive-friendly display across all card visuals.</a:t>
            </a:r>
            <a:endParaRPr lang="en-US" sz="9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156F248-0369-EF56-E285-675CEE5EC7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376" y="1382387"/>
            <a:ext cx="4988262" cy="259043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0910" y="432643"/>
            <a:ext cx="4923160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51D3A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Strategic Recommendations</a:t>
            </a:r>
            <a:endParaRPr lang="en-US" sz="25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0" y="1046597"/>
            <a:ext cx="210369" cy="210369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46696" y="1042318"/>
            <a:ext cx="2463105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Restructure the Tables Portfolio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946696" y="1327472"/>
            <a:ext cx="427739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Review pricing, supplier agreements, and fulfillment. Implement a strict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discount ceiling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to stop negative-margin erosion.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0" y="2029458"/>
            <a:ext cx="210369" cy="2103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46696" y="2025179"/>
            <a:ext cx="2390031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Optimize Q3/Q4 Supply Chains</a:t>
            </a:r>
            <a:endParaRPr lang="en-US" sz="1250" dirty="0"/>
          </a:p>
        </p:txBody>
      </p:sp>
      <p:sp>
        <p:nvSpPr>
          <p:cNvPr id="9" name="Text 4"/>
          <p:cNvSpPr/>
          <p:nvPr/>
        </p:nvSpPr>
        <p:spPr>
          <a:xfrm>
            <a:off x="946696" y="2310333"/>
            <a:ext cx="427739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Reallocate inventory and logistics ahead of predictable holiday demand surges to minimize delays.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0" y="3012318"/>
            <a:ext cx="210369" cy="21036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46696" y="3008040"/>
            <a:ext cx="3056781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Deploy Targeted Consumer Campaigns</a:t>
            </a:r>
            <a:endParaRPr lang="en-US" sz="1250" dirty="0"/>
          </a:p>
        </p:txBody>
      </p:sp>
      <p:sp>
        <p:nvSpPr>
          <p:cNvPr id="12" name="Text 6"/>
          <p:cNvSpPr/>
          <p:nvPr/>
        </p:nvSpPr>
        <p:spPr>
          <a:xfrm>
            <a:off x="946696" y="3293194"/>
            <a:ext cx="427739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Focus marketing spend on high-value acquisition in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California and New York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; introduce loyalty frameworks for top buyers.</a:t>
            </a:r>
            <a:endParaRPr lang="en-US" sz="11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520" y="3995179"/>
            <a:ext cx="210369" cy="210369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946696" y="3990901"/>
            <a:ext cx="2421880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2B3541"/>
                </a:solidFill>
                <a:latin typeface="Funnel Display" pitchFamily="34" charset="0"/>
                <a:ea typeface="Funnel Display" pitchFamily="34" charset="-122"/>
                <a:cs typeface="Funnel Display" pitchFamily="34" charset="-120"/>
              </a:rPr>
              <a:t>Implement Discount Guardrails</a:t>
            </a:r>
            <a:endParaRPr lang="en-US" sz="1250" dirty="0"/>
          </a:p>
        </p:txBody>
      </p:sp>
      <p:sp>
        <p:nvSpPr>
          <p:cNvPr id="15" name="Text 8"/>
          <p:cNvSpPr/>
          <p:nvPr/>
        </p:nvSpPr>
        <p:spPr>
          <a:xfrm>
            <a:off x="946696" y="4276055"/>
            <a:ext cx="4277395" cy="434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Use scatter plot insights to cap promotional discounts at levels that maintain </a:t>
            </a:r>
            <a:r>
              <a:rPr lang="en-US" sz="1100" b="1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positive net margins</a:t>
            </a:r>
            <a:r>
              <a:rPr lang="en-US" sz="1100" dirty="0">
                <a:solidFill>
                  <a:srgbClr val="2B3541"/>
                </a:solidFill>
                <a:latin typeface="Funnel Sans" pitchFamily="34" charset="0"/>
                <a:ea typeface="Funnel Sans" pitchFamily="34" charset="-122"/>
                <a:cs typeface="Funnel Sans" pitchFamily="34" charset="-120"/>
              </a:rPr>
              <a:t> across low-performing lines.</a:t>
            </a:r>
            <a:endParaRPr lang="en-US" sz="11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BFDFF72-996D-EBAC-AEC1-FA26354A3A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4090" y="0"/>
            <a:ext cx="3919909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657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Funnel Display</vt:lpstr>
      <vt:lpstr>Arial</vt:lpstr>
      <vt:lpstr>Consolas</vt:lpstr>
      <vt:lpstr>Funnel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anshul shrivastava</dc:creator>
  <cp:lastModifiedBy>anshul shrivastava</cp:lastModifiedBy>
  <cp:revision>2</cp:revision>
  <dcterms:created xsi:type="dcterms:W3CDTF">2026-05-28T14:41:57Z</dcterms:created>
  <dcterms:modified xsi:type="dcterms:W3CDTF">2026-05-28T15:18:49Z</dcterms:modified>
</cp:coreProperties>
</file>